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webextensions/webextension1.xml" ContentType="application/vnd.ms-office.webextension+xml"/>
  <Override PartName="/ppt/webextensions/webextension2.xml" ContentType="application/vnd.ms-office.webextensio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4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88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0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ny-analytics/Private_Markets_Analytics_Pipelin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59436"/>
            <a:ext cx="54864" cy="502462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9808" y="960120"/>
            <a:ext cx="7772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9808" y="2542032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  ·  dbt core  ·  Power BI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3063240"/>
            <a:ext cx="3657600" cy="4114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49808" y="3218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Supplement  ·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6393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Portfolio Project  · 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Gauthier Ny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Document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023360" cy="3749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portfolio project demonstrating modern analytics engineering practices applied to a private markets reporting context.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a complete end-to-end private markets analytics pipeline built from scratch in 2026 to demonstrate applied analytics engineering in a PE fund data context.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models, and documentation were written independently using realistic private markets data structures and finance logic.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868680"/>
            <a:ext cx="4023360" cy="3749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389888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source tables loaded from CSV via rerunnable BULK INSERT scripts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8-layer pipeline: raw landing → dbt staging → intermediate → star schema → mart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intermediate models: J-curve backbone, IRR input shaping, quarterly snapshots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dim_date, dim_fund, dim_investor + fact_cashflows, fact_nav, fact_commitments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mart: DPI, RVPI, TVPI, break-even flag — all pre-computed in CHF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Post-model validation: TVPI = DPI + RVPI identity check + 4 other SQL validation scripts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Portfolio Overview page + J-Curve &amp; Cashflow page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Alignment — Target Stack vs. This Project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3977640" cy="39776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 engineering roles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3611880" cy="384048"/>
          </a:xfrm>
          <a:prstGeom prst="rect">
            <a:avLst/>
          </a:prstGeom>
          <a:solidFill>
            <a:srgbClr val="2D4373"/>
          </a:solidFill>
          <a:ln w="12700">
            <a:solidFill>
              <a:srgbClr val="3D5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66928" y="174650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</a:t>
            </a: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 (primary)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3611880" cy="384048"/>
          </a:xfrm>
          <a:prstGeom prst="rect">
            <a:avLst/>
          </a:prstGeom>
          <a:solidFill>
            <a:srgbClr val="2D4373"/>
          </a:solidFill>
          <a:ln w="12700">
            <a:solidFill>
              <a:srgbClr val="3D5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6928" y="220370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 </a:t>
            </a: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+ modelling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24328"/>
            <a:ext cx="3611880" cy="384048"/>
          </a:xfrm>
          <a:prstGeom prst="rect">
            <a:avLst/>
          </a:prstGeom>
          <a:solidFill>
            <a:srgbClr val="2D4373"/>
          </a:solidFill>
          <a:ln w="12700">
            <a:solidFill>
              <a:srgbClr val="3D5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266090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</a:t>
            </a: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visualisation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3611880" cy="384048"/>
          </a:xfrm>
          <a:prstGeom prst="rect">
            <a:avLst/>
          </a:prstGeom>
          <a:solidFill>
            <a:srgbClr val="2D4373"/>
          </a:solidFill>
          <a:ln w="12700">
            <a:solidFill>
              <a:srgbClr val="3D5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66928" y="311810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</a:t>
            </a: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and query logic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38728"/>
            <a:ext cx="3611880" cy="384048"/>
          </a:xfrm>
          <a:prstGeom prst="rect">
            <a:avLst/>
          </a:prstGeom>
          <a:solidFill>
            <a:srgbClr val="2D4373"/>
          </a:solidFill>
          <a:ln w="12700">
            <a:solidFill>
              <a:srgbClr val="3D54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66928" y="357530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 </a:t>
            </a: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/ infrastructure fund 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286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892040" y="841248"/>
            <a:ext cx="3977640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074920" y="9601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13441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1709928"/>
            <a:ext cx="3611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074920" y="1709928"/>
            <a:ext cx="5029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230368" y="174650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  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— dbt is warehouse-agnostic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2167128"/>
            <a:ext cx="3611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074920" y="2167128"/>
            <a:ext cx="5029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230368" y="220370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core  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identical — models, YAML, SQL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2624328"/>
            <a:ext cx="3611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074920" y="2624328"/>
            <a:ext cx="5029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230368" y="266090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identical stack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74920" y="3081528"/>
            <a:ext cx="3611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074920" y="3081528"/>
            <a:ext cx="5029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230368" y="311810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finance SQL throughout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74920" y="3538728"/>
            <a:ext cx="3611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074920" y="3538728"/>
            <a:ext cx="5029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230368" y="357530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 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economics, NAV, IRR, J-curve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4416552"/>
            <a:ext cx="3977640" cy="365760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010912" y="4416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dbt is warehouse-agnostic. Switching SQL Server → Snowflake requires only a profile adapter change. All models, YAML, and SQL remain identical.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— Why PE Platforms Are Not Analytics-Ready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teams run operations on platforms like eFront, Allvue, and iLEVEL — workflow and accounting tools, not analytics engines.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2816352" cy="28346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47472" y="1417320"/>
            <a:ext cx="2816352" cy="45720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Star Schema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965960"/>
            <a:ext cx="2542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operational tables built for data entry and workflow. There is no dimensional model, no clean join structure, and no portfolio-level aggregation layer.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816352" cy="28346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816352" cy="45720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01568" y="141732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Portfolio Aggregation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542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fund-level TVPI, DPI, RVPI, or IRR requires manual Excel extraction. No reliable single source of truth across funds, vintages, or strategies.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6208" y="1417320"/>
            <a:ext cx="2816352" cy="28346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2816352" cy="45720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345936" y="141732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SQL-Accessible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3368" y="1965960"/>
            <a:ext cx="2542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locked inside the platform UI. Teams cannot write custom SQL, build downstream dashboards, or version-control their transformation logic.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462272"/>
            <a:ext cx="9144000" cy="402336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build a proper analytics layer on top — dbt models the data into a star schema, Power BI consumes it. No platform dependency.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— End-to-End Pipeline (8 Layers)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75488" cy="8046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83464" y="8686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923544"/>
            <a:ext cx="3593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1252728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exports: funds, investors, commitments, cashflows, NAV, assets, FX rates, date spine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475488" cy="8046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83464" y="18470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1901952"/>
            <a:ext cx="3593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2231136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Server: rerunnable BULK INSERT scripts, 10 tables, ~34,000 rows total across all sources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25496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2825496"/>
            <a:ext cx="475488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83464" y="282549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2880360"/>
            <a:ext cx="3593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(dbt)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" y="3209544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 models: type casting, renaming, NULL handling, date parsing — grain preserved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03904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803904"/>
            <a:ext cx="475488" cy="8046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83464" y="3803904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" y="3858768"/>
            <a:ext cx="3593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(dbt)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" y="4187952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 models: J-curve cumulative series, IRR input shaping, quarterly snapshot rollups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86868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800600" y="868680"/>
            <a:ext cx="475488" cy="804672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09744" y="8686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67528" y="923544"/>
            <a:ext cx="3593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(dbt)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67528" y="1252728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dim_date, dim_fund, dim_investor + fact_cashflows, fact_nav, fact_commitments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1847088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800600" y="1847088"/>
            <a:ext cx="475488" cy="8046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809744" y="1847088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67528" y="1901952"/>
            <a:ext cx="3593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Mart (dbt)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67528" y="2231136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mart_fund_quarterly_performance: DPI, RVPI, TVPI, break-even flag — 1 row = 1 fund × quarter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2825496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800600" y="2825496"/>
            <a:ext cx="475488" cy="8046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809744" y="282549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367528" y="2880360"/>
            <a:ext cx="3593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367528" y="3209544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Post-build SQL checks: J-curve integrity, IRR input structure, TVPI = DPI + RVPI identity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3803904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800600" y="3803904"/>
            <a:ext cx="475488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809744" y="3803904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367528" y="3858768"/>
            <a:ext cx="3593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367528" y="4187952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 (KPIs, NAV, TVPI) + J-Curve &amp; Cashflow (paid-in, distributions, J-curve)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Layer — 10 Source Tables, ~34,000 Rows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tables are loaded from CSV via rerunnable BULK INSERT scripts (TRUNCATE + BULK INSERT pattern). Loaded to the raw schema in SQL Server 2022.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4206240" cy="32004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&amp; Fact 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206240" cy="3200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773168" y="120700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Reference Tables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1572768"/>
            <a:ext cx="45720" cy="5120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1480" y="1609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cashflows_v7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1618488"/>
            <a:ext cx="658368" cy="21031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514600" y="161848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18562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Fund-level capital calls and distributions. Source for DPI, RVPI, TVPI, IRR, J-curve.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121408"/>
            <a:ext cx="4206240" cy="51206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74320" y="2121408"/>
            <a:ext cx="45720" cy="5120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11480" y="2157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investor_cashflows_v7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2167128"/>
            <a:ext cx="658368" cy="21031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514600" y="216712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24048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LP-level cashflow allocations with commitment share %, allocation method.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67004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2670048"/>
            <a:ext cx="45720" cy="5120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11480" y="2706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nav_v7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14600" y="2715768"/>
            <a:ext cx="658368" cy="21031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514600" y="271576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29535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NAV snapshots per fund. Core stock measure for RVPI and break-even logic.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218688"/>
            <a:ext cx="4206240" cy="51206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3218688"/>
            <a:ext cx="45720" cy="5120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11480" y="32552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commitments_v7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14600" y="3264408"/>
            <a:ext cx="658368" cy="21031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514600" y="326440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35021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commitment events per fund with MFN, side-letter, and fee terms flags.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76732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74320" y="3767328"/>
            <a:ext cx="45720" cy="51206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11480" y="38039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asset_quarterly_snapshot_v7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14600" y="3813048"/>
            <a:ext cx="658368" cy="21031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514600" y="3813048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40507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Asset-level quarterly data: CumulativeInvested, GrossMOIC, FairValue, RealizationStatus.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157276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663440" y="1572768"/>
            <a:ext cx="45720" cy="51206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800600" y="1609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funds_v7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03720" y="1618488"/>
            <a:ext cx="749808" cy="210312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6903720" y="161848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0600" y="18562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master: strategy, economics (mgmt fee, carry, hurdle), ESG article, lifecycle dates.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4206240" cy="51206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663440" y="2121408"/>
            <a:ext cx="45720" cy="51206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4800600" y="2157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investors_v7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03720" y="2167128"/>
            <a:ext cx="749808" cy="210312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903720" y="216712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0600" y="24048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master: investor type, region, country, ESG preference, tax status.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267004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663440" y="2670048"/>
            <a:ext cx="45720" cy="51206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4800600" y="27066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asset_master_v7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03720" y="2715768"/>
            <a:ext cx="749808" cy="210312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903720" y="271576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800600" y="29535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company master: AssetType, Sector, GrossMOICTarget2025, InvestmentType.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3218688"/>
            <a:ext cx="4206240" cy="51206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4663440" y="3218688"/>
            <a:ext cx="45720" cy="51206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4800600" y="32552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date_dim_v7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903720" y="3264408"/>
            <a:ext cx="749808" cy="210312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6903720" y="326440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800600" y="35021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calendar date spine: year, quarter, month, flags (quarter-end, year-end).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63440" y="3767328"/>
            <a:ext cx="4206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4663440" y="3767328"/>
            <a:ext cx="45720" cy="51206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4800600" y="38039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fx_rates_chf_v7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903720" y="3813048"/>
            <a:ext cx="749808" cy="210312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6903720" y="3813048"/>
            <a:ext cx="749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18,265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800600" y="40507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FX rates to CHF for all fund currencies. Applied at transaction and NAV level.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74320" y="4343400"/>
            <a:ext cx="8595360" cy="3474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411480" y="4343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 loaded: ~34,000  ·  Largest: fx_rates_chf_v7 (18,265 daily FX rates)  ·  Date spine: 3,653 rows  ·  All 10 tables loaded via rerunnable BULK INSERT (TRUNCATE + INSERT)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Architecture — Staging → Intermediate → Star Schema → Mart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2011680" cy="40233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011680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841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1828800" cy="283464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20624" y="141732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stg_funds.sql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1828800" cy="283464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20624" y="173736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stg_cashflows.sql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1828800" cy="283464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20624" y="205740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stg_nav.sql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514600"/>
            <a:ext cx="1828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clean. Type casting, column renaming, NULL coalescing, date parsing. One model per source table. No business logic.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68880" y="841248"/>
            <a:ext cx="2011680" cy="40233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468880" y="841248"/>
            <a:ext cx="2011680" cy="47548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560320" y="841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1417320"/>
            <a:ext cx="1828800" cy="283464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615184" y="141732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int_fund_cashflows.sql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0" y="1737360"/>
            <a:ext cx="1828800" cy="283464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615184" y="173736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int_fund_cashflows_cumulative.sql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2057400"/>
            <a:ext cx="1828800" cy="283464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615184" y="205740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int_fund_irr_inputs.sql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0" y="2377440"/>
            <a:ext cx="1828800" cy="283464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615184" y="237744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int_fund_performance_snapshots.sql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60320" y="28346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logic. Cashflow aggregations, running cumulative totals for J-curve, IRR input shaping, quarterly snapshot rollups.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841248"/>
            <a:ext cx="2011680" cy="40233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663440" y="841248"/>
            <a:ext cx="2011680" cy="47548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754880" y="841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 / fact_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417320"/>
            <a:ext cx="1828800" cy="283464"/>
          </a:xfrm>
          <a:prstGeom prst="rect">
            <a:avLst/>
          </a:prstGeom>
          <a:solidFill>
            <a:srgbClr val="FFF3CD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809744" y="141732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dim_date.sql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1737360"/>
            <a:ext cx="1828800" cy="283464"/>
          </a:xfrm>
          <a:prstGeom prst="rect">
            <a:avLst/>
          </a:prstGeom>
          <a:solidFill>
            <a:srgbClr val="FFF3CD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09744" y="173736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dim_fund.sql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2057400"/>
            <a:ext cx="1828800" cy="283464"/>
          </a:xfrm>
          <a:prstGeom prst="rect">
            <a:avLst/>
          </a:prstGeom>
          <a:solidFill>
            <a:srgbClr val="FFF3CD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809744" y="205740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dim_investor.sql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2377440"/>
            <a:ext cx="1828800" cy="283464"/>
          </a:xfrm>
          <a:prstGeom prst="rect">
            <a:avLst/>
          </a:prstGeom>
          <a:solidFill>
            <a:srgbClr val="FFF3CD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809744" y="237744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fact_cashflows.sql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2697480"/>
            <a:ext cx="1828800" cy="283464"/>
          </a:xfrm>
          <a:prstGeom prst="rect">
            <a:avLst/>
          </a:prstGeom>
          <a:solidFill>
            <a:srgbClr val="FFF3CD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809744" y="269748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fact_nav.sql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017520"/>
            <a:ext cx="1828800" cy="283464"/>
          </a:xfrm>
          <a:prstGeom prst="rect">
            <a:avLst/>
          </a:prstGeom>
          <a:solidFill>
            <a:srgbClr val="FFF3CD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809744" y="301752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fact_commitments.sql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5488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modelled dimensions and facts. Grain defined per model. Foreign key relationships established.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58000" y="841248"/>
            <a:ext cx="2011680" cy="40233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858000" y="841248"/>
            <a:ext cx="2011680" cy="47548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949440" y="841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Mart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49440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49440" y="1417320"/>
            <a:ext cx="1828800" cy="283464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004304" y="1417320"/>
            <a:ext cx="17190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mart_fund_quarterly_performance.sql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949440" y="1874520"/>
            <a:ext cx="18288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analytics object. One row = one fund + one valuation snapshot date. DPI, RVPI, TVPI, break-even pre-computed in CHF.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276856" y="2377440"/>
            <a:ext cx="201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471416" y="2377440"/>
            <a:ext cx="201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65976" y="2377440"/>
            <a:ext cx="201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— 3 Dimensions + 3 Facts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743200" cy="38404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252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date_id (PK)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4264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full_date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18488" y="125272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year_quarter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18488" y="142646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is_quarter_end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176272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28600" y="2176272"/>
            <a:ext cx="2743200" cy="38404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47472" y="21762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26060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fund_id (PK)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27797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fund_name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18488" y="26060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strategy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18488" y="277977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vintage_year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3529584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28600" y="3529584"/>
            <a:ext cx="2743200" cy="38404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47472" y="3529584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dim_investor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395935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investor_id (PK)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41330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investor_name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18488" y="39593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investor_type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18488" y="413308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domicile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71800" y="2743200"/>
            <a:ext cx="32004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56616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joins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8229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172200" y="822960"/>
            <a:ext cx="2743200" cy="38404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291072" y="8229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fact_cashflows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122529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fund + investor + date + type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14813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fund_id (FK)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63640" y="16550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investor_id (FK)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62088" y="14813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date_id (FK)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62088" y="16550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amount_chf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72200" y="2176272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172200" y="2176272"/>
            <a:ext cx="2743200" cy="38404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291072" y="21762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63640" y="257860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fund + valuation date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63640" y="28346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fund_id (FK)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63640" y="30083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date_id (FK)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62088" y="28346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nav_amount_chf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62088" y="30083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fx_rate_to_chf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72200" y="3529584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172200" y="3529584"/>
            <a:ext cx="2743200" cy="38404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291072" y="3529584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fact_commitments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63640" y="393192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fund + investor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63640" y="418795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fund_id (FK)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63640" y="43616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investor_id (FK)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62088" y="418795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commitment_amount_chf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62088" y="43616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commitment_pct_of_fund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Transformation Logic — Finance Metrics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834640" cy="3749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834640" cy="43891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86868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J-Curve: Cumulative Net Cashflow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265176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29768" y="1435608"/>
            <a:ext cx="2523744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int_fund_cashflows_cumulative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SUM(net_cashflow_amount)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 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fund_id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cashflow_date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BETWEEN UNBOUNDED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PRECEDING AND CURRENT ROW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cumulative_net_cashflow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3456432"/>
            <a:ext cx="2615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cumulative net cashflow per fund over time. Calls are negative; distributions positive. The J-curve shape emerges from this series.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868680"/>
            <a:ext cx="2834640" cy="3749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834640" cy="43891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355848" y="86868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Paid-In &amp; Distributions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389888"/>
            <a:ext cx="265176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01568" y="1435608"/>
            <a:ext cx="2523744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 amount &lt;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-amount ELSE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AS paid_in_amount,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 amount &gt;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amount ELSE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AS distribution_amount,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Rolled up at snapshot grain: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COALESCE(SUM(paid_in_amount_chf), 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cumulative_paid_in_chf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5848" y="3456432"/>
            <a:ext cx="2615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recast as positive paid-in; distributions kept positive. Rolled up to quarter-end snapshot grain for DPI/RVPI/TVPI calculation.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868680"/>
            <a:ext cx="2834640" cy="374904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217920" y="868680"/>
            <a:ext cx="2834640" cy="43891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327648" y="86868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/ RVPI / TVPI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389888"/>
            <a:ext cx="265176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73368" y="1435608"/>
            <a:ext cx="2523744" cy="188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mart_fund_quarterly_performance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CAST(cumul_distributions_chf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decimal(38,10))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NULLIF(CAST(cumul_paid_in_chf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decimal(38,10)), 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dpi,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nav_amount_chf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NULLIF(cumul_paid_in_chf, 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rvpi,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(nav_amount_chf + cumul_distributions_chf)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NULLIF(cumul_paid_in_chf, 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tvpi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27648" y="3456432"/>
            <a:ext cx="2615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 return multiples in CHF. TVPI = DPI + RVPI identity validated post-build. NULLIF guards against division-by-zero before first call.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11480" y="44622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IRR: shaped in int_fund_irr_inputs — actual cashflows (ACTUAL_CASHFLOW) + terminal NAV row (TERMINAL_NAV) per valuation snapshot, ready for XIRR-equivalent calculation.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Mart — mart_fund_quarterly_performance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row = one fund + one valuation snapshot date  ·  All metrics computed in CHF reporting currency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05740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2057400" cy="38404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1234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&amp; Period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682496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20624" y="1682496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20824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20624" y="2020824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fund_name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20624" y="2359152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20624" y="2697480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vintage_year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20624" y="3035808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valuation_date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374136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20624" y="3374136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quarter_label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50592" y="123444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450592" y="1234440"/>
            <a:ext cx="2057400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542032" y="1234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Activity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42032" y="1682496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596896" y="1682496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cumulative_paid_in_chf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42032" y="2020824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596896" y="2020824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cumulative_distributions_chf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42032" y="2359152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596896" y="2359152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cumulative_net_cashflow_chf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42032" y="2697480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596896" y="2697480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paid_in_pct_of_fund_size_chf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26864" y="1234440"/>
            <a:ext cx="2057400" cy="2167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626864" y="1234440"/>
            <a:ext cx="2057400" cy="38404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718304" y="1234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18304" y="1682496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773168" y="1682496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nav_amount_chf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18304" y="2020824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773168" y="2020824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unfunded_commitment_chf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18304" y="2359152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773168" y="2359152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total_value_chf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18304" y="2697480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773168" y="2697480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value_creation_chf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18304" y="3035808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773168" y="3035808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nav_pct_of_fund_size_chf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03136" y="1234440"/>
            <a:ext cx="2057400" cy="2167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6803136" y="1234440"/>
            <a:ext cx="2057400" cy="38404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894576" y="1234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KPIs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94576" y="1682496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949440" y="1682496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94576" y="2020824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949440" y="2020824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rvpi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94576" y="2359152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6949440" y="2359152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tvpi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94576" y="2697480"/>
            <a:ext cx="1874520" cy="301752"/>
          </a:xfrm>
          <a:prstGeom prst="rect">
            <a:avLst/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6949440" y="2697480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break_even_flag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94576" y="3035808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949440" y="3035808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valuation_status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462272"/>
            <a:ext cx="85953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411480" y="44622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fact_nav + fact_cashflows + dim_fund + dim_date. All KPIs pre-computed in SQL — Power BI consumes this as a thin semantic layer with minimal DAX.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 — From Mart to Insight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reporting mart answers fund manager questions directly with a single SELECT. No Excel, no platform export, no manual calculation.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5720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572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12252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funds have returned their capital to LPs?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50876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is set to 1 when total_value (NAV + distributions) ≥ cumulative paid-in. Evaluated at each quarter-end snapshot.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3075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12080" y="1170432"/>
            <a:ext cx="365760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349240" y="1225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break_even_flag =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4904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mart_fund_quarterly_performance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4572000" cy="576072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4572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11480" y="18470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each fund's return multiple — and how does TVPI decompose?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130552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= distributions / paid-in  ·  RVPI = NAV / paid-in  ·  TVPI = DPI + RVPI. Identity validated post-build. All in CHF.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19293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12080" y="1792224"/>
            <a:ext cx="365760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34924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dpi, rvpi, tvpi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21122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mart_fund_quarterly_performance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414016"/>
            <a:ext cx="45720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2414016"/>
            <a:ext cx="4572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11480" y="2468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committed capital has been called to date?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275234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cumulative_paid_in_chf ÷ fund_size_chf_final_close. Shows deployment pace and remaining unfunded exposure.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25511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212080" y="2414016"/>
            <a:ext cx="365760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349240" y="24688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paid_in_pct_of_fund_size_chf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27340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mart_fund_quarterly_performance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035808"/>
            <a:ext cx="4572000" cy="576072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74320" y="3035808"/>
            <a:ext cx="4572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11480" y="30906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J-curve evolve for each fund over time?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3374136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sum of net cashflows by fund and date via SUM() OVER (PARTITION BY fund_id ORDER BY cashflow_date ROWS UNBOUNDED PRECEDING).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6320" y="31729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212080" y="3035808"/>
            <a:ext cx="365760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349240" y="30906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cumulative_net_cashflow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33558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int_fund_cashflows_cumulative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657600"/>
            <a:ext cx="45720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4572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11480" y="37124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portfolio NAV trend by quarter?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" y="399592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nav_amount_chf across all funds grouped by year_quarter. Rendered as stacked area or line chart in Power BI Portfolio Overview.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0" y="3794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212080" y="3657600"/>
            <a:ext cx="3657600" cy="576072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5349240" y="37124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nav_amount_chf  ·  year_quarter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49240" y="39776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mart_fund_quarterly_performance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4352544"/>
            <a:ext cx="8595360" cy="347472"/>
          </a:xfrm>
          <a:prstGeom prst="rect">
            <a:avLst/>
          </a:prstGeom>
          <a:solidFill>
            <a:srgbClr val="FEF9E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411480" y="435254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questions are answerable with a single SELECT against mart_fund_quarterly_performance — no joins, no subqueries, no DAX. The mart is the analytics contract between SQL and Power BI.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Output — mart_fund_quarterly_performance (Sample Rows)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1 fund × 1 quarter-end valuation date  ·  156 snapshot rows across 5 funds  ·  Directly consumed by Power BI as a SQL Server 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164592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9184" y="117043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20240" y="1170432"/>
            <a:ext cx="86868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975104" y="117043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date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88920" y="1170432"/>
            <a:ext cx="86868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843784" y="117043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nav_chf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0" y="1170432"/>
            <a:ext cx="96012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712464" y="1170432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paid_in_chf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170432"/>
            <a:ext cx="64008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72584" y="117043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57800" y="1170432"/>
            <a:ext cx="64008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312664" y="117043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rvpi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97880" y="1170432"/>
            <a:ext cx="64008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952744" y="117043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tvpi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37960" y="1170432"/>
            <a:ext cx="77724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592824" y="117043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break_even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0" y="1170432"/>
            <a:ext cx="91440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370064" y="1170432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149961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29184" y="149961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Buyout 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20240" y="1499616"/>
            <a:ext cx="868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975104" y="1499616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2024-09-30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88920" y="1499616"/>
            <a:ext cx="868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843784" y="1499616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42.0M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0" y="1499616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712464" y="1499616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150.0M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1499616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672584" y="149961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57800" y="1499616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312664" y="149961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97880" y="1499616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952744" y="149961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1.342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37960" y="1499616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592824" y="1499616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149961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370064" y="1499616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Buyout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1901952"/>
            <a:ext cx="164592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29184" y="1901952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Growth II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920240" y="1901952"/>
            <a:ext cx="8686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975104" y="1901952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2024-09-30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88920" y="1901952"/>
            <a:ext cx="8686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2843784" y="1901952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80.4M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0" y="1901952"/>
            <a:ext cx="96012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3712464" y="1901952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80.0M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17720" y="1901952"/>
            <a:ext cx="6400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4672584" y="1901952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57800" y="1901952"/>
            <a:ext cx="6400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5312664" y="1901952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97880" y="1901952"/>
            <a:ext cx="6400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5952744" y="1901952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37960" y="1901952"/>
            <a:ext cx="77724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592824" y="1901952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0" y="1901952"/>
            <a:ext cx="91440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7370064" y="1901952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2304288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329184" y="230428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Infra 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920240" y="2304288"/>
            <a:ext cx="868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1975104" y="2304288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2024-09-30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88920" y="2304288"/>
            <a:ext cx="868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2843784" y="2304288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189.8M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0" y="2304288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3712464" y="2304288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200.0M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17720" y="2304288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4672584" y="230428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257800" y="2304288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5312664" y="230428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897880" y="2304288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5952744" y="230428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1.181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537960" y="2304288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6592824" y="2304288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315200" y="23042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7370064" y="2304288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74320" y="2706624"/>
            <a:ext cx="164592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329184" y="270662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Direct Lending I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920240" y="2706624"/>
            <a:ext cx="8686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1975104" y="2706624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2024-09-30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788920" y="2706624"/>
            <a:ext cx="8686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2843784" y="2706624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22.2M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657600" y="2706624"/>
            <a:ext cx="96012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85"/>
          <p:cNvSpPr/>
          <p:nvPr/>
        </p:nvSpPr>
        <p:spPr>
          <a:xfrm>
            <a:off x="3712464" y="2706624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70.0M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17720" y="2706624"/>
            <a:ext cx="6400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Text 87"/>
          <p:cNvSpPr/>
          <p:nvPr/>
        </p:nvSpPr>
        <p:spPr>
          <a:xfrm>
            <a:off x="4672584" y="270662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257800" y="2706624"/>
            <a:ext cx="6400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9"/>
          <p:cNvSpPr/>
          <p:nvPr/>
        </p:nvSpPr>
        <p:spPr>
          <a:xfrm>
            <a:off x="5312664" y="270662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0.317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897880" y="2706624"/>
            <a:ext cx="64008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Text 91"/>
          <p:cNvSpPr/>
          <p:nvPr/>
        </p:nvSpPr>
        <p:spPr>
          <a:xfrm>
            <a:off x="5952744" y="270662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1.057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537960" y="2706624"/>
            <a:ext cx="77724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93"/>
          <p:cNvSpPr/>
          <p:nvPr/>
        </p:nvSpPr>
        <p:spPr>
          <a:xfrm>
            <a:off x="6592824" y="2706624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315200" y="2706624"/>
            <a:ext cx="914400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Text 95"/>
          <p:cNvSpPr/>
          <p:nvPr/>
        </p:nvSpPr>
        <p:spPr>
          <a:xfrm>
            <a:off x="7370064" y="2706624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Lending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74320" y="31089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97"/>
          <p:cNvSpPr/>
          <p:nvPr/>
        </p:nvSpPr>
        <p:spPr>
          <a:xfrm>
            <a:off x="329184" y="310896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Real Estate I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920240" y="3108960"/>
            <a:ext cx="868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9"/>
          <p:cNvSpPr/>
          <p:nvPr/>
        </p:nvSpPr>
        <p:spPr>
          <a:xfrm>
            <a:off x="1975104" y="310896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2024-09-30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788920" y="3108960"/>
            <a:ext cx="868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Text 101"/>
          <p:cNvSpPr/>
          <p:nvPr/>
        </p:nvSpPr>
        <p:spPr>
          <a:xfrm>
            <a:off x="2843784" y="310896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70.7M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657600" y="3108960"/>
            <a:ext cx="960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103"/>
          <p:cNvSpPr/>
          <p:nvPr/>
        </p:nvSpPr>
        <p:spPr>
          <a:xfrm>
            <a:off x="3712464" y="3108960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120.0M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617720" y="3108960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105"/>
          <p:cNvSpPr/>
          <p:nvPr/>
        </p:nvSpPr>
        <p:spPr>
          <a:xfrm>
            <a:off x="4672584" y="310896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0.526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257800" y="3108960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5312664" y="310896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0.589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897880" y="3108960"/>
            <a:ext cx="640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9"/>
          <p:cNvSpPr/>
          <p:nvPr/>
        </p:nvSpPr>
        <p:spPr>
          <a:xfrm>
            <a:off x="5952744" y="310896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1.114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6537960" y="3108960"/>
            <a:ext cx="777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Text 111"/>
          <p:cNvSpPr/>
          <p:nvPr/>
        </p:nvSpPr>
        <p:spPr>
          <a:xfrm>
            <a:off x="6592824" y="3108960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7315200" y="31089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Text 113"/>
          <p:cNvSpPr/>
          <p:nvPr/>
        </p:nvSpPr>
        <p:spPr>
          <a:xfrm>
            <a:off x="7370064" y="3108960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274320" y="3621024"/>
            <a:ext cx="85953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15"/>
          <p:cNvSpPr/>
          <p:nvPr/>
        </p:nvSpPr>
        <p:spPr>
          <a:xfrm>
            <a:off x="411480" y="36210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 per fund (2024-09-30). DPI, RVPI, TVPI from live mart_fund_quarterly_performance view; TVPI = DPI + RVPI identity validated post-build. CHF values computed via fx_rates_chf_v7 join at each cashflow and NAV date. break_even_flag: 1 when (nav + distributions) ≥ cumulative paid-in.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Framework — Post-Build SQL Checks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set of post-build validation scripts confirms the pipeline is structurally correct and financially coherent at every layer.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057400" cy="3337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2057400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Load Checks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checks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911096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1911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match source CSV expected values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tables present in raw schema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752344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752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rows preview of funds_v7, cashflows_v7, investor_cashflows_v7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172968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172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exactly 10 user tables in raw schema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50592" y="1353312"/>
            <a:ext cx="2057400" cy="3337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450592" y="1353312"/>
            <a:ext cx="2057400" cy="47548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542032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Checks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42032" y="16276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checks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42032" y="1911096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542032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16352" y="1911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J-curve backbone: cumulative_net_cashflow starts negative for PE-style funds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42032" y="2331720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542032" y="2331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16352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path evolves correctly in chronological order per fund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42032" y="2752344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542032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16352" y="2752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inputs: ACTUAL_CASHFLOW rows present before TERMINAL_NAV per snapshot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42032" y="3172968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542032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16352" y="3172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input shape: exactly one TERMINAL_NAV row per fund × valuation date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26864" y="1353312"/>
            <a:ext cx="2057400" cy="3337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626864" y="1353312"/>
            <a:ext cx="2057400" cy="47548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718304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Structure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18304" y="16276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18304" y="1911096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718304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92624" y="1911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mart_fund_quarterly_performance exists as SQL Server view in mart schema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18304" y="2331720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718304" y="2331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92624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 per fund: 1 row per fund at most recent valuation date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18304" y="2752344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4718304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92624" y="2752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input rows: actual cashflows + terminal NAV both present per snapshot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03136" y="1353312"/>
            <a:ext cx="2057400" cy="333756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6803136" y="1353312"/>
            <a:ext cx="2057400" cy="47548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6894576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Logic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94576" y="16276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checks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894576" y="1911096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894576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168896" y="1911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 rows review: dpi/rvpi/tvpi/break_even_flag look sensible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94576" y="2331720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6894576" y="2331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68896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 per fund: cumulative_paid_in, nav, total_value reviewed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894576" y="2752344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6894576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168896" y="2752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TVPI = DPI + RVPI identity: ABS(tvpi - (dpi+rvpi)) &lt; 0.000001 for all rows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894576" y="3172968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6894576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168896" y="31729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mart preview: 1,000 rows ordered by fund_id, valuation_date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— Portfolio Overview + J-Curve &amp; Cashflow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report pages consuming mart_fund_quarterly_performance + int_fund_irr_inputs. Thin semantic layer — all logic lives in SQL, not DAX.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61288"/>
            <a:ext cx="4160520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161288"/>
            <a:ext cx="4160520" cy="47548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11612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 —  Portfolio Overview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3886200" cy="60350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11480" y="1709928"/>
            <a:ext cx="45720" cy="60350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Row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0116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NAV (CHF)  ·  TVPI  ·  DPI  ·  RVPI  ·  Fund count  ·  Total commitments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404872"/>
            <a:ext cx="3886200" cy="60350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11480" y="2404872"/>
            <a:ext cx="45720" cy="60350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TVPI by Fund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7066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— compare return multiples across all funds side by side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099816"/>
            <a:ext cx="3886200" cy="60350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11480" y="3099816"/>
            <a:ext cx="45720" cy="60350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3145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NAV Composition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4015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chart — NAV contribution per fund by quarter over time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794760"/>
            <a:ext cx="3886200" cy="60350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" y="3794760"/>
            <a:ext cx="45720" cy="60350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NAV Trend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09651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total portfolio NAV evolution across all quarter-end snapshots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1161288"/>
            <a:ext cx="4160520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709160" y="1161288"/>
            <a:ext cx="4160520" cy="47548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46320" y="11612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 —  J-Curve &amp; Cashflow Analysis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1709928"/>
            <a:ext cx="3886200" cy="60350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846320" y="1709928"/>
            <a:ext cx="45720" cy="60350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983480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Paid-In Bars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0116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quarterly capital calls (outflows) per fund. Shows deployment pace over time.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2404872"/>
            <a:ext cx="3886200" cy="60350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846320" y="2404872"/>
            <a:ext cx="45720" cy="60350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983480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Bars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27066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quarterly distributions (inflows) per fund. Shows return activity by period.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3099816"/>
            <a:ext cx="3886200" cy="60350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846320" y="3099816"/>
            <a:ext cx="45720" cy="60350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983480" y="3145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Net Cashflow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83480" y="34015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the J-curve path. Starts negative (capital calls), crosses zero when fund breaks even.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3794760"/>
            <a:ext cx="3886200" cy="603504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846320" y="3794760"/>
            <a:ext cx="45720" cy="60350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983480" y="3840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Slicer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3480" y="409651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Single-fund drill-in — inspect the full cashflow and valuation history for any one fund.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63547"/>
            <a:ext cx="9144000" cy="480386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99000" tIns="135000" rIns="162000" bIns="135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35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9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685800" y="397774"/>
            <a:ext cx="218599" cy="21859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540759" y="878160"/>
              <a:ext cx="8062482" cy="40017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759" y="878160"/>
                <a:ext cx="8062482" cy="4001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63547"/>
            <a:ext cx="9144000" cy="480386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99000" tIns="135000" rIns="162000" bIns="135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35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9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685800" y="397774"/>
            <a:ext cx="218599" cy="21859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540759" y="878160"/>
              <a:ext cx="8062482" cy="40017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759" y="878160"/>
                <a:ext cx="8062482" cy="4001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7326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— SQL File Index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3657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Markets Analytics Pipeline  ·  Gauthier Ny  · 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84124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Landing (SQL Server)  (4 files)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4572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02336" y="111556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01_platform_setup__create_database_and_all_core_schemas.sql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353312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1353312"/>
            <a:ext cx="4572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02336" y="135331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02_raw_landing__create_raw_tables.sql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591056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4320" y="1591056"/>
            <a:ext cx="4572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02336" y="159105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03_raw_landing__load_raw_tables_from_csv.sql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828800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74320" y="1828800"/>
            <a:ext cx="4572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02336" y="182880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04_raw_landing__validate_raw_load.sql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130552"/>
            <a:ext cx="42062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84048" y="213055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(stg_)  (3 files)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404872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4320" y="2404872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02336" y="240487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stg_funds.sql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642616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74320" y="2642616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02336" y="264261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stg_cashflows.sql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74320" y="2880360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02336" y="288036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stg_nav.sql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182112"/>
            <a:ext cx="4206240" cy="274320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84048" y="318211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(int_)  (4 files)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456432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74320" y="3456432"/>
            <a:ext cx="45720" cy="23774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02336" y="345643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int_fund_cashflows.sql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694176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274320" y="3694176"/>
            <a:ext cx="45720" cy="23774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02336" y="369417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int_fund_cashflows_cumulative.sql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931920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274320" y="3931920"/>
            <a:ext cx="45720" cy="23774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02336" y="393192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int_fund_irr_inputs.sql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169664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274320" y="4169664"/>
            <a:ext cx="45720" cy="23774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02336" y="416966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int_fund_performance_snapshots.sql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841248"/>
            <a:ext cx="4206240" cy="274320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773168" y="84124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(dim_)  (3 files)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1115568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663440" y="1115568"/>
            <a:ext cx="45720" cy="23774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4791456" y="111556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dim_date.sql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1353312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4663440" y="1353312"/>
            <a:ext cx="45720" cy="23774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4791456" y="135331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dim_fund.sql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1591056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663440" y="1591056"/>
            <a:ext cx="45720" cy="237744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4791456" y="159105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dim_investor.sql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63440" y="1892808"/>
            <a:ext cx="4206240" cy="2743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4773168" y="189280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(fact_)  (3 files)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2167128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4663440" y="2167128"/>
            <a:ext cx="45720" cy="23774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4791456" y="216712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fact_cashflows.sql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63440" y="2404872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4663440" y="2404872"/>
            <a:ext cx="45720" cy="23774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4791456" y="240487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fact_nav.sql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2642616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4663440" y="2642616"/>
            <a:ext cx="45720" cy="23774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4791456" y="264261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fact_commitments.sql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2944368"/>
            <a:ext cx="4206240" cy="2743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4773168" y="294436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Mart  (1 file)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0" y="3218688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4663440" y="3218688"/>
            <a:ext cx="45720" cy="23774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4791456" y="321868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mart_fund_quarterly_performance.sql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63440" y="3520440"/>
            <a:ext cx="420624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4773168" y="352044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Post-Build Validation  (4 files)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663440" y="3794760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4663440" y="3794760"/>
            <a:ext cx="4572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4791456" y="379476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01_validate_int_fund_cashflows_cumulative.sql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663440" y="4032504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4663440" y="4032504"/>
            <a:ext cx="4572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4791456" y="4032504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03_check_latest_snapshot_per_fund.sql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663440" y="4270248"/>
            <a:ext cx="42062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4663440" y="4270248"/>
            <a:ext cx="4572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4791456" y="427024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04_inspect_irr_input_rows.sql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663440" y="4507992"/>
            <a:ext cx="4206240" cy="237744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4663440" y="4507992"/>
            <a:ext cx="45720" cy="2377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4791456" y="450799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05_validate_rebuilt_mart.sql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59436"/>
            <a:ext cx="54864" cy="502462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9808" y="1143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3200" b="1" dirty="0">
                <a:solidFill>
                  <a:srgbClr val="FFFFFF"/>
                </a:solidFill>
              </a:rPr>
              <a:t>Let's connect</a:t>
            </a:r>
          </a:p>
        </p:txBody>
      </p:sp>
      <p:sp>
        <p:nvSpPr>
          <p:cNvPr id="6" name="Shape 4"/>
          <p:cNvSpPr/>
          <p:nvPr/>
        </p:nvSpPr>
        <p:spPr>
          <a:xfrm>
            <a:off x="749808" y="1920240"/>
            <a:ext cx="3840480" cy="41148"/>
          </a:xfrm>
          <a:prstGeom prst="rect">
            <a:avLst/>
          </a:prstGeom>
          <a:solidFill>
            <a:srgbClr val="C8991A"/>
          </a:solidFill>
          <a:ln w="12700">
            <a:solidFill>
              <a:srgbClr val="C89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49808" y="205740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dbt models, SQL transformation files, validation scripts, and Power BI reports are available for review at git hub link 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https://github.com/gny-analytics/Private_Markets_Analytics_Pipeline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9992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Gauthier Ny  ·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gauthier@gny-consulting.com  ·  +41 78 329 74 14  ·  linkedin.com/in/gauthier-ny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547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Portfolio Project  ·  Private Markets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3b22ea92-bb49-4e50-80ee-7445e4d49bb2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YUW/bOAz+K4Gfg0GWLcvq25pt2IDdkLsOfTkUAyVRqTfHDmS7l1yR/36U3N22dmuwIWuNYXmIbYog+X0kZcrXia26TQ27N7DG5CQ5bdsPa/AfZmkyT5pRphTnCoXkKtUi1QYyKGi13fRV23TJyXXSg19hf151A9TBEAn/vpgnUNdLWIUnB3WH82SDvmsbqKt/cVSmpd4PuJ8nuN3UrYdg8qyHHoPZK1KnZwohfZKRRzB9dYVnaPpRioUCXYLEVAIzVmTANal1o0KM7KsqwXR0v2ibHqqG3AQZz6RzOWNCKwGodFGwPMhdVfc3Knr3fLvxhI4w7zaBnKf2ChqDNokQPHZjxNfJHwjd4COO518snLWDN/gXurjU9FW/IzsvhsbO/hzAk6t6N1uid61fB9PJnuhZ+pbIi5pPouCy/WfhkYiyyQnbX5Ckq5pVfcPrJ4hvxzANeHuzRJnT74miAGgfTBVKW0xzl7ki5Rm6VDo2Rdzhd2zsDFIjFMutEkwKxk0h+FSxHx28dVJxJw0HlkJe5qlTerLgj596pjnmJaPKt8o5IVM20dQfEzk9eIv+dBdRPav8x92Uz28F/pMREYSw7SuDmRQCQAojssympZlkEn65HPyfAp1pJTPHRUFvPJDWFrmcZAp+wSR8lgbGCwllyXjpwGBJ/1pMNA0/YzfmApTIaFIrrbFGMStKdxD+glyvWl+ZaPFLBhZtPayb4xPgSPNdnIzvMjB/xMREzbfny1ez1xRO1/9QguqhI0doT8EvLsnp5FrmKyj3Fx9PBqT3/rPZ/6Y6xmgfohwuYiWrko5IuSjzAmiydqygF9sEG/nN0/PZ4uWLe6v4MfrrCuohHgPf2XAMnFp497X/4f6KQX1PZ6W3O+vBaH/ctroTzthbeYZGC9A516nMVDi6HT6xTLyKH771l63vXVtX7ezbm8DBWq6rBn9X8g9Xcqm1KE2W8bQsMZca0cXT572c97jtdbu9Oz3pHC2TYA1NTnnuUoECDlrrLoGut2xFc58kyRr9KpZgO/TdhibTJTQYCduMGCscP7RtN9DYUDvx3ofr64rYGR2fEwvBZ/wQmEQ3gYf9f2dDNN2AFAAA&quot;"/>
    <we:property name="creatorSessionId" value="&quot;c69aecd6-4dd1-4825-8576-6b137fc3c789&quot;"/>
    <we:property name="creatorTenantId" value="&quot;04f991f3-0023-4b95-ab0d-bebbdbc8df14&quot;"/>
    <we:property name="creatorUserId" value="&quot;10032005BA5268A4&quot;"/>
    <we:property name="datasetId" value="&quot;039a8b26-1560-40a7-9842-5503b26cd000&quot;"/>
    <we:property name="embedUrl" value="&quot;/reportEmbed?reportId=6c4f3b6f-07e3-4556-93c6-cfa9f5892b96&amp;groupId=5ef39a11-ea24-4e30-aaae-741acc044aaf&amp;w=2&amp;config=eyJjbHVzdGVyVXJsIjoiaHR0cHM6Ly9XQUJJLUNBTkFEQS1DRU5UUkFMLUI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YbW/bOAz+K4E/B4P8Ir/0W5t1uMPWLrcW/TIUBSVRqTfHMmS7l1yR/z5Kzm592TXYkLXGcPkQxxRD8nlIypRvA1W2TQXrU1hicBAcGfN5CfbzJAymQb2VvX//9uTww9ur08OTYxKbpitN3QYHt0EHdoHdRdn2UDkLJPx4OQ2gquawcHcaqhanQYO2NTVU5T84KNNSZ3vcTANcNZWx4EyeddChM3tD6nRPvsNXMXkE2ZU3eIayG6SYFiByyDDMgEnFY4gEqbWDgo/suyrOtHc/M3UHZU1unCyKM60TxrgoOGAh0pQlTq7LqtuqiPXxqrGEjjCvG8fKobqBWqIKPASL7RDxbXCC0PbW4zi+t3BmeivxA2q/VHdltyY7b/paTf7qwZKraj2Zo9XGLp3pYEP0zK0h8rzmKy+4Nn/PLBJRKjhgm0uStGW9qLa8foN4PoQpwartEmVOfCKKHKCNM5UWQmGY6FinYRSjDjPNxojbffaNnUEoecESVXCWcRbJlEdjxb538EpnRaQzGQELIcmTUBditOD3n3omIkxyRpWvCq15FrKRpn6fyOnGKrRHa4/qdWm/7qbR9EHgvxgRQXDbfiExzjgHyLjkcazCXI4yCb9dDv5NgYhFkcU64ik98SBTKk2yUabgN0zCnTSwKM0gz1mUa5CY07fgI03Dr9iNIw4Fj2lSy5VUsmCK53on/Bm5XhhbSm/xPgMzU/XLev8EaNK88iPxYwamL5gYr3l+Mf9z8o7CabufSlDVt+QI1RHY2TU5HV3LfAfl5vLryYD0Pt2Z/bfVMUT7HOVw6Su5yIWEhOdJCjRZa5bSg22EjXx6eDGZ/fHmySp+if66gar3x8Ar5Y6BYwvvqfbf3V8+qB/prPBhZz0b7S/bVo/CGXoriVEKDiKJRJjFhTu67T6xjLyKn7/158Z22lSlmfz3JrCzlquyxv8r+acrOReC5zKOozDPMckEovanzyc573DVCbN6PD2JBBXLQEmanJJEhxw57LTWXgNdH9jy5r5JgiXahS9B03dtQ5PpHGr0hDUDxhKHF22rBmrlasf/tu76riR2BscXxILz6V8EBt4JxVKKCnf8wb0eDHxYjrfNF96bxzCpFAAA&quot;"/>
    <we:property name="isFiltersActionButtonVisible" value="true"/>
    <we:property name="isVisualContainerHeaderHidden" value="false"/>
    <we:property name="pageDisplayName" value="&quot;Total NAV (CHF M)Master Portfolio Overview&quot;"/>
    <we:property name="pageName" value="&quot;e69ab8a7e17a0cd53a2b&quot;"/>
    <we:property name="reportEmbeddedTime" value="&quot;2026-05-09T18:25:56.068Z&quot;"/>
    <we:property name="reportName" value="&quot;PE_Analytics_Portfolio_v3&quot;"/>
    <we:property name="reportState" value="&quot;CONNECTED&quot;"/>
    <we:property name="reportUrl" value="&quot;/groups/5ef39a11-ea24-4e30-aaae-741acc044aaf/reports/6c4f3b6f-07e3-4556-93c6-cfa9f5892b96/e69ab8a7e17a0cd53a2b?bookmarkGuid=ab2ef5f7-739c-44f0-b58c-3fbb6b22bfd9&amp;bookmarkUsage=1&amp;ctid=04f991f3-0023-4b95-ab0d-bebbdbc8df14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a3f8de1-1498-444d-80a0-1f71540f25a0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E6E6E6&quot;"/>
    <we:property name="bookmark" value="&quot;H4sIAAAAAAAAA81WUW/aMBD+K5Ff9hJNCVCgfStp0SptFRtT9zBV1SW+gFsnjmyHwlD++84OtKOwtg9bVR5Qcj5/993nu3PWjAtTSVhdQoHshI2UuitA3wUxC1nZ2niWpzDoR0dZHsVRyjmAW1WVFao07GTNLOgZ2ithapAOiIw/r0MGUk5g5t5ykAZDVqE2qgQpfmHrTEtW19iEDJeVVBoc5NSCRQe7IHd6Jwrxxy5FhMyKBU4xsxtr3u9jB6PuMOr0oqM04mmP3Ezr4JkddHHQPnyiSguipDDOlgJEea877HSPe3GO/ew4TZ09F9JuXVbny0pTdpTzqnLiJMR1prTIQDKfhUbTkl6zRMm68E/nO/apqnWG3zD3S6UVdkVI47rkwdcaNAWTq2CCOle6gDJD1pBAE61IPu+Zk+eNPxy3MFf3iUaiwdlJ1FyTxYhyJjcKPyb7vSVspMhQu/NLb0kon1aBdH7uYYYkhttECVZtQIHmUYTdp6vt+XRCNtaq8Ns2hZRThNekFrKWFzEP2Y85avQodDJc2I1eF080NBuXV6jbvng+z4hIoa9A1r5uCfmzsK0K69ZM3h9OZTWHYFSvVG2Diw9u03VDf03jt3OwcEC1QnGvK/qqOYw8AiMyB9giGZTbAt+DM5YKzU798U693wvgrrk2yC79toFIhNs/WuQh87cpWKdYyPIsSxEyHMRxL0bq0k43fpe9tiB1/FS64W4q7Tdc+EDvlC8cAt/j9gXB1Br/PbkJCB5clMFYqvsg+TR+Z/TOhCvYtPal9l5JJnVRS3B9EVyiDRIw8/zvTF8cr5KuE7rAsjvkbUkmqkhVMicmOzOXcJTmqEcrX+FnQm+7Pg6fZPhmpe3Gz8ERsWm81X8dEnt02kkRDYa8O8h7g2gI2IU06nf9Df7sKVhc2lQtdxX3v8P3Hg11U9E4mkCJB+YulSKU3FXAs9PWf+U8jNum+Q1WD5pVXQkAAA==&quot;"/>
    <we:property name="creatorSessionId" value="&quot;dadd6e55-d794-4a46-887c-f74e868824d2&quot;"/>
    <we:property name="creatorTenantId" value="&quot;04f991f3-0023-4b95-ab0d-bebbdbc8df14&quot;"/>
    <we:property name="creatorUserId" value="&quot;10032005BA5268A4&quot;"/>
    <we:property name="datasetId" value="&quot;039a8b26-1560-40a7-9842-5503b26cd000&quot;"/>
    <we:property name="embedUrl" value="&quot;/reportEmbed?reportId=6c4f3b6f-07e3-4556-93c6-cfa9f5892b96&amp;groupId=5ef39a11-ea24-4e30-aaae-741acc044aaf&amp;w=2&amp;config=eyJjbHVzdGVyVXJsIjoiaHR0cHM6Ly9XQUJJLUNBTkFEQS1DRU5UUkFMLUI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81WTU/bQBD9K9ZeuFiV89EkcEsMUREFUlLRQ4XQ2B4nC2uvtbsOSSP/986uHWhIChxaBAdkj2ffvHnzsVmzhOtCwOoCMmRHbCTlfQbq3msxn+WN7fLy7Hx4dXZ7MTw/IbMsDJe5ZkdrZkDN0FxzXYKwCGT8eeMzEGICM/uWgtDoswKVljkI/gtrZ/pkVImVz3BZCKnAQk4NGLSwC3Knd4rd+tShiBAbvsApxqaxpr0etjHoDIJ2N/gcBUnUJTddOzhme10stAsfytwAzymMtUUAQdrtDNqdw24rxV58GEXWnnJhNi6rk2WhKDvKeVVYVULiOpOKxyCYy0KhrkmvWShFmbmnky37VJYqxitM3afccLMipHGZJ963EhQFEytvgiqVKoM8RlaRQBMlST7nmZLnrauK/TCXD6FCopGwo6C6IYvm+Uw0Cj8l+70mrAWPUdn6RXcklEsrQ6qffZghiWEPUYJFHZCjfhJh++l6U5+2z8ZKZu5Y00EpRXhLaj6reRFzn/2Yo0KHQpVJuGn0On2moW5c3qBu/eL4vCAihb4GUbq+JeSv3NQqrGszeR8MRTEHb1SuZGm80wN76Kaif1XljidgYI9qmUycrui6Zj/yCDSPLWCNpFFsGnwHThtqNDN15Z06v1fA7XA1yDb9eoBIhLs/RuQx8/dpWKuYz9I4jhBi7Lda3RbSlLY7rQ85awtSx22l28Rupd2B8x/pDZOFRUh2uJ0j6FLhvyc3AZ54p7k3FvLBC7+MPxi9Y24bNipdq31UkmGZlQLsXHgXaLwQ9Dz9O9NX16ug64QusPgek7olQ5lFMpwTk62dSzhSJahGK9fhx1xtpr7lP8vw3Vrbrp+9K6IZvNV/XRI7dOpNEfQHSaefdvvBALADUdDruBv8xSoYXJpILrcVd3/77z1a6rqgdTSBHPfsXWpFyBPbAS9uW/crh7kgxIZH4rXdv7Weq+o3xdGoSYYJAAA=&quot;"/>
    <we:property name="isFiltersActionButtonVisible" value="true"/>
    <we:property name="isVisualContainerHeaderHidden" value="false"/>
    <we:property name="pageDisplayName" value="&quot;Classic J Curve by Quarter&quot;"/>
    <we:property name="pageName" value="&quot;1f66e2e03802405b0db4&quot;"/>
    <we:property name="reportEmbeddedTime" value="&quot;2026-05-09T18:27:11.357Z&quot;"/>
    <we:property name="reportName" value="&quot;PE_Analytics_Portfolio_v3&quot;"/>
    <we:property name="reportState" value="&quot;CONNECTED&quot;"/>
    <we:property name="reportUrl" value="&quot;/groups/5ef39a11-ea24-4e30-aaae-741acc044aaf/reports/6c4f3b6f-07e3-4556-93c6-cfa9f5892b96/1f66e2e03802405b0db4?bookmarkGuid=6b5fa0e6-8882-4d41-bb06-4f199f4b4185&amp;bookmarkUsage=1&amp;ctid=04f991f3-0023-4b95-ab0d-bebbdbc8df14&amp;fromEntryPoint=export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3352</Words>
  <Application>Microsoft Office PowerPoint</Application>
  <PresentationFormat>On-screen Show (16:9)</PresentationFormat>
  <Paragraphs>452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Microsoft Power BI</vt:lpstr>
      <vt:lpstr>Microsoft Power BI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Markets Analytics Pipeline</dc:title>
  <dc:subject>PptxGenJS Presentation</dc:subject>
  <dc:creator>Gauthier Ny</dc:creator>
  <cp:lastModifiedBy>Sosa Ny</cp:lastModifiedBy>
  <cp:revision>10</cp:revision>
  <dcterms:created xsi:type="dcterms:W3CDTF">2026-04-19T17:47:52Z</dcterms:created>
  <dcterms:modified xsi:type="dcterms:W3CDTF">2026-05-11T15:56:06Z</dcterms:modified>
</cp:coreProperties>
</file>